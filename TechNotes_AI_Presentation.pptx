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D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4B8A6"/>
                </a:solidFill>
                <a:latin typeface="Segoe UI"/>
              </a:defRPr>
            </a:pPr>
            <a:r>
              <a:t>PROJECT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800" b="1">
                <a:solidFill>
                  <a:srgbClr val="FFFFFF"/>
                </a:solidFill>
                <a:latin typeface="Segoe UI"/>
              </a:defRPr>
            </a:pPr>
            <a:r>
              <a:t>TechNotes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0C0"/>
                </a:solidFill>
                <a:latin typeface="Segoe UI"/>
              </a:defRPr>
            </a:pPr>
            <a:r>
              <a:t>A Smart Study Platform for RGPV Engineering Students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931920"/>
            <a:ext cx="1353312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Next.js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28032" y="39319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Supabase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931920"/>
            <a:ext cx="1609344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Gemini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84464" y="393192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TypeScript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04704" y="3931920"/>
            <a:ext cx="1993392" cy="32918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Tailwind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07080"/>
                </a:solidFill>
                <a:latin typeface="Segoe UI"/>
              </a:defRPr>
            </a:pPr>
            <a:r>
              <a:t>Free  •  No Ads  •  Bilingual (Hindi / English)  •  AI-Powered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5303520"/>
            <a:ext cx="2103120" cy="381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Department of Computer Science &amp;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RGPV — Rajiv Gandhi Proudyogiki Vishwavidyalaya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Why we built TechNotes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50"/>
              </a:spcAft>
              <a:defRPr sz="17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Scattered resources — notes, PYQs, and syllabus spread across WhatsApp groups, Google Drive links, and outdated websites</a:t>
            </a:r>
          </a:p>
          <a:p>
            <a:pPr>
              <a:spcAft>
                <a:spcPts val="2550"/>
              </a:spcAft>
              <a:defRPr sz="17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No central hub — students waste hours searching for branch-specific study material instead of studying</a:t>
            </a:r>
          </a:p>
          <a:p>
            <a:pPr>
              <a:spcAft>
                <a:spcPts val="2550"/>
              </a:spcAft>
              <a:defRPr sz="17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Language barrier — most online resources are English-only, excluding Hindi-speaking students</a:t>
            </a:r>
          </a:p>
          <a:p>
            <a:pPr>
              <a:spcAft>
                <a:spcPts val="2550"/>
              </a:spcAft>
              <a:defRPr sz="17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No AI doubt-solving — no assistant that gives subject-specific answers with formulas, diagrams, and examples</a:t>
            </a:r>
          </a:p>
          <a:p>
            <a:pPr>
              <a:spcAft>
                <a:spcPts val="2550"/>
              </a:spcAft>
              <a:defRPr sz="17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Ad-cluttered platforms — existing sites are full of pop-ups, paywalls, and irrelevant content</a:t>
            </a:r>
          </a:p>
          <a:p>
            <a:pPr>
              <a:spcAft>
                <a:spcPts val="2550"/>
              </a:spcAft>
              <a:defRPr sz="17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No placement prep hub — DSA resources and company-wise interview material are not organized in one place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03520"/>
            <a:ext cx="10332720" cy="7772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0"/>
          <a:lstStyle/>
          <a:p>
            <a:pPr algn="ctr">
              <a:defRPr sz="1700" b="1">
                <a:solidFill>
                  <a:srgbClr val="0A0A0F"/>
                </a:solidFill>
                <a:latin typeface="Segoe UI"/>
              </a:defRPr>
            </a:pPr>
            <a:r>
              <a:t>TechNotes AI solves all of this — one platform, all branches, AI-powered, bilingual, and completely free.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What TechNotes AI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0C0"/>
                </a:solidFill>
                <a:latin typeface="Segoe UI"/>
              </a:defRPr>
            </a:pPr>
            <a:r>
              <a:t>A free, ad-free study platform that centralizes everything an RGPV engineering student needs — academic notes, previous year papers, syllabus, important questions, DSA and placement prep — paired with an AI chatbot that answers questions across ALL engineering branches and analyzes uploaded PDFs and images.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Centralized academic notes and PDFs across all engineering branches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Previous Year Question papers (PYQs) with optional answer keys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Unit-wise syllabus and important questions per subject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DSA preparation hub with notes and practice questions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Placement preparation with company-wise filtering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AI chatbot covering CSE, Civil, Electrical, Electronics, Mechanical, Math, Physics, Chemistry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Bilingual interface — Hindi and English with instant toggle</a:t>
            </a:r>
          </a:p>
          <a:p>
            <a:pPr>
              <a:spcAft>
                <a:spcPts val="208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Admin panel for secure content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Everything a student needs, in one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8346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Segoe UI"/>
              </a:defRPr>
            </a:pPr>
            <a:r>
              <a:t>AI Chatbot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Gemini 2.5 Flash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All branches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PDF / image upload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Hindi + English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54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554480"/>
            <a:ext cx="2834640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8A"/>
                </a:solidFill>
                <a:latin typeface="Segoe UI"/>
              </a:defRPr>
            </a:pPr>
            <a:r>
              <a:t>Notes &amp; PYQs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PDF, image, text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Year → Sem → Subject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Download support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Answer keys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554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554480"/>
            <a:ext cx="283464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Segoe UI"/>
              </a:defRPr>
            </a:pPr>
            <a:r>
              <a:t>Syllabus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01168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Unit-wise content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Browse by subject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Text + file format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Inline reader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155448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0" y="1554480"/>
            <a:ext cx="283464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Segoe UI"/>
              </a:defRPr>
            </a:pPr>
            <a:r>
              <a:t>Placement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01168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Company filtering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Category filtering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Aptitude + Tech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HR resources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93192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31920"/>
            <a:ext cx="283464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041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  <a:latin typeface="Segoe UI"/>
              </a:defRPr>
            </a:pPr>
            <a:r>
              <a:t>DSA Prep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8912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Topic-wise notes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Practice questions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Text + PDF format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Color-coded cards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0" y="393192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3931920"/>
            <a:ext cx="283464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0" y="4041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Segoe UI"/>
              </a:defRPr>
            </a:pPr>
            <a:r>
              <a:t>Bilingual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438912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Hindi / English toggle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Every string translated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AI in user language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Persistent preference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93192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3931920"/>
            <a:ext cx="28346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0" y="4041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Segoe UI"/>
              </a:defRPr>
            </a:pPr>
            <a:r>
              <a:t>Admin Panel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38912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Content management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File uploads to storage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Academic structure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Feedback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3931920"/>
            <a:ext cx="283464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8400" y="3931920"/>
            <a:ext cx="2834640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80" y="40416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8A"/>
                </a:solidFill>
                <a:latin typeface="Segoe UI"/>
              </a:defRPr>
            </a:pPr>
            <a:r>
              <a:t>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438912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Subject + note search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Instant results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Type badges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View / download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AI Chatbot — All Engineering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Powered by Google Gemini 2.5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10896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64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Segoe UI"/>
              </a:defRPr>
            </a:pPr>
            <a:r>
              <a:t>Computer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DSA, OS, DBMS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Networks, AI/ML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Compiler Design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Web Tech, Cloud, Security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5448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554480"/>
            <a:ext cx="3108960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664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3A8A"/>
                </a:solidFill>
                <a:latin typeface="Segoe UI"/>
              </a:defRPr>
            </a:pPr>
            <a:r>
              <a:t>Civil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Structures, Surveying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RCC, Fluid Mechanics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Soil Mechanics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Transportation, Hydrology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55448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554480"/>
            <a:ext cx="310896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664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Segoe UI"/>
              </a:defRPr>
            </a:pPr>
            <a:r>
              <a:t>Electrical Engg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0116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Circuit Theory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Machines, Power Systems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Control Systems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Power Electronics, Drives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155448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0" y="1554480"/>
            <a:ext cx="310896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0" y="16642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855F7"/>
                </a:solidFill>
                <a:latin typeface="Segoe UI"/>
              </a:defRPr>
            </a:pPr>
            <a:r>
              <a:t>Electronics &amp; Comm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01168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Signals &amp; Systems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VLSI, DSP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Communication Systems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Microelectronics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93192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0" y="3931920"/>
            <a:ext cx="310896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40416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B8A6"/>
                </a:solidFill>
                <a:latin typeface="Segoe UI"/>
              </a:defRPr>
            </a:pPr>
            <a:r>
              <a:t>Mechanical Engg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389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Thermodynamics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Manufacturing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Machine Design, SOM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Heat &amp; Mass Transfer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0" y="393192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2160" y="3931920"/>
            <a:ext cx="310896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40416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Segoe UI"/>
              </a:defRPr>
            </a:pPr>
            <a:r>
              <a:t>Mathematics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389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Engg Math 1, 2, 3, 4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Calculus, Linear Algebra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Differential Equations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Probability, Statistics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92640" y="3931920"/>
            <a:ext cx="3108960" cy="219456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92640" y="3931920"/>
            <a:ext cx="310896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0" y="40416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Segoe UI"/>
              </a:defRPr>
            </a:pPr>
            <a:r>
              <a:t>Physics &amp; Chemistry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4389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Engg Physics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Engg Chemistry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Mechanics, Optics</a:t>
            </a:r>
          </a:p>
          <a:p>
            <a:pPr algn="l">
              <a:spcAft>
                <a:spcPts val="1264"/>
              </a:spcAft>
              <a:defRPr sz="1100" b="0">
                <a:solidFill>
                  <a:srgbClr val="B0B0C0"/>
                </a:solidFill>
                <a:latin typeface="Segoe UI"/>
              </a:defRPr>
            </a:pPr>
            <a:r>
              <a:t>Materials, Polymers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AI Chatbot —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Technical architecture and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97316"/>
                </a:solidFill>
                <a:latin typeface="Segoe UI"/>
              </a:defRPr>
            </a:pPr>
            <a:r>
              <a:t>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Multimodal — PDFs and images sent as base64 inline_data to Gemini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Multi-key rotation with up to 6 API keys for rate-limit handling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Client-side and server-side key rotation on 429 / 403 errors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Custom formatting — no markdown, uses symbols and spacing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Temperature 0.7, max 4096 output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B8A6"/>
                </a:solidFill>
                <a:latin typeface="Segoe UI"/>
              </a:defRPr>
            </a:pPr>
            <a:r>
              <a:t>Behavior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Identifies as TechNotes AI, not ChatGPT or Claude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Responds in the student's language (Hindi or English)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Floating chat widget on all pages + full-page chat at /chatbot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Branch-specific guidance: IS codes, circuit equations, thermodynamic formulas</a:t>
            </a:r>
          </a:p>
          <a:p>
            <a:pPr>
              <a:spcAft>
                <a:spcPts val="1959"/>
              </a:spcAft>
              <a:defRPr sz="14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Step-by-step derivations for Mathematics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Segoe UI"/>
              </a:defRPr>
            </a:pPr>
            <a:r>
              <a:t>Request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94960"/>
            <a:ext cx="10515600" cy="594360"/>
          </a:xfrm>
          <a:prstGeom prst="roundRect">
            <a:avLst>
              <a:gd name="adj" fmla="val 5000"/>
            </a:avLst>
          </a:prstGeom>
          <a:solidFill>
            <a:srgbClr val="1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1600"/>
          <a:lstStyle/>
          <a:p>
            <a:pPr algn="ctr">
              <a:defRPr sz="1400">
                <a:solidFill>
                  <a:srgbClr val="B0B0C0"/>
                </a:solidFill>
                <a:latin typeface="Segoe UI"/>
              </a:defRPr>
            </a:pPr>
            <a:r>
              <a:t>Student  →  Chat UI  →  Edge Function  →  Gemini API (key rotation)  →  Formatted Response  →  Student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Notes &amp; Previous Year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Hierarchical navigation and multiple content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30352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97316"/>
                </a:solidFill>
                <a:latin typeface="Segoe UI"/>
              </a:defRPr>
            </a:pPr>
            <a:r>
              <a:t>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Navigate: Year → Branch → Semester → Subject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Available as PDF, image, or text content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Inline text reader with formatting support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Download links for all file types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Office documents via Google Docs Viewer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Breadcrumb navigation throughout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Color-coded subject cards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303520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3A8A"/>
                </a:solidFill>
                <a:latin typeface="Segoe UI"/>
              </a:defRPr>
            </a:pPr>
            <a:r>
              <a:t>Previous Year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Same drill-down: Year → Sem → Subject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Year metadata on each paper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Optional answer PDFs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View in browser or download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Text-based questions supported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Unit-numbered questions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Expandable inline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DSA &amp; Placement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Targeted resources for coding interviews and campus placements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30352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B8A6"/>
                </a:solidFill>
                <a:latin typeface="Segoe UI"/>
              </a:defRPr>
            </a:pPr>
            <a:r>
              <a:t>DSA Preparation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Topic-wise notes and PDFs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Practice question PDFs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Text-based content with inline reader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Color-coded topic cards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Grouped by subject name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Notes + Questions PDFs per topic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Fallback to legacy DSA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30352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A855F7"/>
                </a:solidFill>
                <a:latin typeface="Segoe UI"/>
              </a:defRPr>
            </a:pPr>
            <a:r>
              <a:t>Placement Preparation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Company-wise filtering (TCS, Infosys, etc.)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Category filtering (Aptitude, Technical, HR)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Company badge on each item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Category badge for quick scanning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Notes and resources per company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PDF and text content supported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Fallback to legacy placement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Syllabus &amp; Important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Unit-wise academic content for exam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30352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2C55E"/>
                </a:solidFill>
                <a:latin typeface="Segoe UI"/>
              </a:defRPr>
            </a:pPr>
            <a:r>
              <a:t>Syllabus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Unit-wise syllabus per subject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Browse: Year → Semester → Subject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Reads from content_files (section=syllabus)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Falls back to syllabus_units table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Text and file formats supported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Inline reader for text content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Download for file content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30352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Segoe UI"/>
              </a:defRPr>
            </a:pPr>
            <a:r>
              <a:t>Important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Unit-numbered questions per subject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Available as PDF or text content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Inline expandable text reader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Markdown-like formatting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Year → Sem → Subject drill-down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File download for PDFs</a:t>
            </a:r>
          </a:p>
          <a:p>
            <a:pPr algn="l">
              <a:spcAft>
                <a:spcPts val="1609"/>
              </a:spcAft>
              <a:defRPr sz="1400" b="0">
                <a:solidFill>
                  <a:srgbClr val="B0B0C0"/>
                </a:solidFill>
                <a:latin typeface="Segoe UI"/>
              </a:defRPr>
            </a:pPr>
            <a:r>
              <a:t>View in browser or expand inline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Bilingual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Full Hindi / English language toggle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Language toggle in the navbar — switches instantly between Hindi and English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Every UI string translated — headings, buttons, labels, toasts, breadcrumbs, empty states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Language preference persists across sessions (localStorage)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AI chatbot also responds in the student's chosen language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Inline translation pattern: t(english, hindi) at each call site — no separate translation files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Full coverage across all components and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20640"/>
            <a:ext cx="10332720" cy="1005840"/>
          </a:xfrm>
          <a:prstGeom prst="roundRect">
            <a:avLst>
              <a:gd name="adj" fmla="val 5000"/>
            </a:avLst>
          </a:prstGeom>
          <a:solidFill>
            <a:srgbClr val="1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Segoe UI"/>
              </a:defRPr>
            </a:pPr>
            <a:r>
              <a:t>English: 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B8A6"/>
                </a:solidFill>
                <a:latin typeface="Segoe UI"/>
              </a:defRPr>
            </a:pPr>
            <a:r>
              <a:t>Hindi:  नोट्स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Segoe UI"/>
              </a:defRPr>
            </a:pPr>
            <a:r>
              <a:t>English:  Ask me anything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577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4B8A6"/>
                </a:solidFill>
                <a:latin typeface="Segoe UI"/>
              </a:defRPr>
            </a:pPr>
            <a:r>
              <a:t>Hindi:  कुछ भी पूछें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Admin Panel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Secure content management — admin-only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Admin-only access via Supabase Auth (email/password) + whitelisted emails in admin_users table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Upload and manage content across all sections — notes, PYQ, DSA, placement, imp_questions, syllabus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Create text content with formatting — headings, bold, code, lists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Upload files to Supabase Storage (notes-files bucket) — PDF, image, DOCX, PPTX, DOC, PPT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Manage academic structure — add / edit / delete branches, years, semesters, subjects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Manage admin user whitelist and Gemini API keys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View user feedback with IP and user agent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Modern, scalable, and production-ready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8346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Next.js (App Router)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TypeScript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Tailwind CSS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shadcn/ui Components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Lucide React Icons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554480"/>
            <a:ext cx="2834640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8A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Supabase Postgres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Row Level Security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Supabase Storage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Edge Functions (Deno)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Supabase Auth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554480"/>
            <a:ext cx="283464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2C55E"/>
                </a:solidFill>
                <a:latin typeface="Segoe UI"/>
              </a:defRPr>
            </a:pPr>
            <a: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Google Gemini 2.5 Flash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Multimodal (text + image)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Multi-key rotation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Custom formatting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Bilingual responses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0" y="1554480"/>
            <a:ext cx="283464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855F7"/>
                </a:solidFill>
                <a:latin typeface="Segoe UI"/>
              </a:defRPr>
            </a:pPr>
            <a:r>
              <a:t>Tools &amp; Deploy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Sonner (toasts)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React Hook Form + Zod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Recharts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Netlify deployment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Vite build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Hierarchical academic structure with unified content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97316"/>
                </a:solidFill>
                <a:latin typeface="Segoe UI"/>
              </a:defRPr>
            </a:pPr>
            <a:r>
              <a:t>Academic Hierarchy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Years (1–4)</a:t>
            </a:r>
          </a:p>
          <a:p>
            <a:pPr algn="l">
              <a:spcAft>
                <a:spcPts val="225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  → Branches (CSE, IT, AIML, Common)</a:t>
            </a:r>
          </a:p>
          <a:p>
            <a:pPr algn="l">
              <a:spcAft>
                <a:spcPts val="225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    → Semesters (linked to year + branch)</a:t>
            </a:r>
          </a:p>
          <a:p>
            <a:pPr algn="l">
              <a:spcAft>
                <a:spcPts val="225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      → Subjects (linked to semester)</a:t>
            </a:r>
          </a:p>
          <a:p>
            <a:pPr algn="l">
              <a:spcAft>
                <a:spcPts val="2250"/>
              </a:spcAft>
              <a:defRPr sz="1500" b="0">
                <a:solidFill>
                  <a:srgbClr val="FFFFFF"/>
                </a:solidFill>
                <a:latin typeface="Segoe UI"/>
              </a:defRPr>
            </a:pPr>
            <a:r>
              <a:t>        → Content (notes, PYQ, syllabus, etc.)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B8A6"/>
                </a:solidFill>
                <a:latin typeface="Segoe UI"/>
              </a:defRPr>
            </a:pPr>
            <a:r>
              <a:t>Unified Content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content_files — single table for 6 sections: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  notes, pyq, dsa, placement,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  imp_questions, syllabus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Supports file uploads + text content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Section CHECK constraint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File types: pdf, image, file, text,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  docx, pptx, doc, ppt</a:t>
            </a:r>
          </a:p>
          <a:p>
            <a:pPr algn="l">
              <a:spcAft>
                <a:spcPts val="1820"/>
              </a:spcAft>
              <a:defRPr sz="1400" b="0">
                <a:solidFill>
                  <a:srgbClr val="FFFFFF"/>
                </a:solidFill>
                <a:latin typeface="Segoe UI"/>
              </a:defRPr>
            </a:pPr>
            <a:r>
              <a:t>Legacy tables with fallback reads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515600" cy="822960"/>
          </a:xfrm>
          <a:prstGeom prst="roundRect">
            <a:avLst>
              <a:gd name="adj" fmla="val 5000"/>
            </a:avLst>
          </a:prstGeom>
          <a:solidFill>
            <a:srgbClr val="1A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983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Segoe UI"/>
              </a:defRPr>
            </a:pPr>
            <a:r>
              <a:t>15 Database Migrations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  <a:latin typeface="Segoe UI"/>
              </a:defRPr>
            </a:pPr>
            <a:r>
              <a:t>Schema evolved from separate tables to a unified content_files model with backward-compatible fallbacks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Row Level Security on every table, admin-only writes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Row Level Security (RLS) enabled on every table — no data leaks without explicit policy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Public read access for students — no login needed to browse content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Admin-only write access via is_admin() Postgres function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Security-hardened SECURITY DEFINER function with SET search_path = '' to prevent injection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Feedback rate limiting: 5 submissions per IP per 24 hours, enforced server-side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Server-side input validation and sanitization on all feedback submissions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Storage bucket: public read, admin-only write — students cannot upload or modify content</a:t>
            </a:r>
          </a:p>
          <a:p>
            <a:pPr>
              <a:spcAft>
                <a:spcPts val="2100"/>
              </a:spcAft>
              <a:defRPr sz="15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Admin authorization checked via Supabase session + admin_users whitelist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Pages &amp;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All routes in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8346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  <a:latin typeface="Segoe UI"/>
              </a:defRPr>
            </a:pPr>
            <a:r>
              <a:t>Main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 — Home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/notes — All Notes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/pyq — PYQs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/dsa — DSA Prep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/placement — Placement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/syllabus — Syllabus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/imp-questions — Imp Qs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554480"/>
            <a:ext cx="2834640" cy="457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8A"/>
                </a:solidFill>
                <a:latin typeface="Segoe UI"/>
              </a:defRPr>
            </a:pPr>
            <a:r>
              <a:t>Interactive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/chatbot — Full AI Chat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/search — Search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/feedback — Feedback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/admin — Admin Panel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Floating chat on all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554480"/>
            <a:ext cx="283464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Segoe UI"/>
              </a:defRPr>
            </a:pPr>
            <a:r>
              <a:t>Dynamic 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/year/[year] — Branch selector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/year/.../[branch] — Sem selector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/year/.../sem/[sem] — Subjects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/subject/[slug] — Subject detail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1554480"/>
            <a:ext cx="2834640" cy="411480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0" y="1554480"/>
            <a:ext cx="283464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0" y="16642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Segoe UI"/>
              </a:defRPr>
            </a:pPr>
            <a:r>
              <a:t>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2011680"/>
            <a:ext cx="2468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Navbar with search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Hero section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Quick-access cards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Footer</a:t>
            </a:r>
          </a:p>
          <a:p>
            <a:pPr algn="l">
              <a:spcAft>
                <a:spcPts val="1380"/>
              </a:spcAft>
              <a:defRPr sz="1200" b="0">
                <a:solidFill>
                  <a:srgbClr val="B0B0C0"/>
                </a:solidFill>
                <a:latin typeface="Segoe UI"/>
              </a:defRPr>
            </a:pPr>
            <a:r>
              <a:t>Language toggle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Challenges &amp;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What we faced and 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30352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Segoe UI"/>
              </a:defRPr>
            </a:pPr>
            <a:r>
              <a:t>Challenges Faced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Gemini API rate limits — solved with 6-key rotation system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Managing 6 content types in one schema — solved with unified content_files table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Bilingual support without translation files — solved with inline t(en, hi) pattern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Security hardening of SECURITY DEFINER functions — SET search_path = ''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Office document viewing — integrated Google Docs Viewer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Backward compatibility during schema migration — fallback reads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303520" cy="4389120"/>
          </a:xfrm>
          <a:prstGeom prst="roundRect">
            <a:avLst>
              <a:gd name="adj" fmla="val 8000"/>
            </a:avLst>
          </a:prstGeom>
          <a:solidFill>
            <a:srgbClr val="14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30352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B8A6"/>
                </a:solidFill>
                <a:latin typeface="Segoe UI"/>
              </a:defRPr>
            </a:pPr>
            <a:r>
              <a:t>Key Learnings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RLS is essential — never expose tables without policies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Unified table design is better than many small tables for polymorphic content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Edge functions need mandatory CORS headers on every response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Client-side API key rotation improves UX during rate limits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Inline translation pattern scales better than separate locale files</a:t>
            </a:r>
          </a:p>
          <a:p>
            <a:pPr algn="l">
              <a:spcAft>
                <a:spcPts val="1495"/>
              </a:spcAft>
              <a:defRPr sz="1300" b="0">
                <a:solidFill>
                  <a:srgbClr val="B0B0C0"/>
                </a:solidFill>
                <a:latin typeface="Segoe UI"/>
              </a:defRPr>
            </a:pPr>
            <a:r>
              <a:t>Security DEFINER functions need search_path hardening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0C0"/>
                </a:solidFill>
                <a:latin typeface="Segoe UI"/>
              </a:defRPr>
            </a:pPr>
            <a:r>
              <a:t>Planned enhancements and expansions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365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698480" cy="19050"/>
          </a:xfrm>
          <a:prstGeom prst="rect">
            <a:avLst/>
          </a:prstGeom>
          <a:solidFill>
            <a:srgbClr val="3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Expand to more universities beyond RGPV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Add student accounts with bookmarks and progress tracking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Voice input for the AI chatbot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More branches and subjects — ECE, ME, CE, EE already in AI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Mobile app version (React Native)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Community-contributed notes with moderation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Real-time doubt-solving sessions with peers</a:t>
            </a:r>
          </a:p>
          <a:p>
            <a:pPr>
              <a:spcAft>
                <a:spcPts val="2400"/>
              </a:spcAft>
              <a:defRPr sz="1600">
                <a:solidFill>
                  <a:srgbClr val="FFFFFF"/>
                </a:solidFill>
                <a:latin typeface="Segoe UI"/>
              </a:defRPr>
              <a:buFont typeface="Arial"/>
              <a:buChar char="▸"/>
            </a:pPr>
            <a:r>
              <a:t>Performance analytics and study streaks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0"/>
                </a:solidFill>
                <a:latin typeface="Segoe UI"/>
              </a:defRPr>
            </a:pPr>
            <a:r>
              <a:t>TechNotes AI  |  Built for RGPV Students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200400"/>
            <a:ext cx="5486400" cy="5486400"/>
          </a:xfrm>
          <a:prstGeom prst="ellipse">
            <a:avLst/>
          </a:prstGeom>
          <a:solidFill>
            <a:srgbClr val="0D1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4B8A6"/>
                </a:solidFill>
                <a:latin typeface="Segoe UI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Segoe UI"/>
              </a:defRPr>
            </a:pPr>
            <a:r>
              <a:t>TechNotes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8503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20"/>
              </a:spcAft>
              <a:defRPr sz="1700">
                <a:solidFill>
                  <a:srgbClr val="B0B0C0"/>
                </a:solidFill>
                <a:latin typeface="Segoe UI"/>
              </a:defRPr>
              <a:buFont typeface="Arial"/>
              <a:buChar char="▸"/>
            </a:pPr>
            <a:r>
              <a:t>All study material in one place — notes, PYQs, syllabus, important questions</a:t>
            </a:r>
          </a:p>
          <a:p>
            <a:pPr>
              <a:spcAft>
                <a:spcPts val="2720"/>
              </a:spcAft>
              <a:defRPr sz="1700">
                <a:solidFill>
                  <a:srgbClr val="B0B0C0"/>
                </a:solidFill>
                <a:latin typeface="Segoe UI"/>
              </a:defRPr>
              <a:buFont typeface="Arial"/>
              <a:buChar char="▸"/>
            </a:pPr>
            <a:r>
              <a:t>AI-powered doubt solving across all engineering branches</a:t>
            </a:r>
          </a:p>
          <a:p>
            <a:pPr>
              <a:spcAft>
                <a:spcPts val="2720"/>
              </a:spcAft>
              <a:defRPr sz="1700">
                <a:solidFill>
                  <a:srgbClr val="B0B0C0"/>
                </a:solidFill>
                <a:latin typeface="Segoe UI"/>
              </a:defRPr>
              <a:buFont typeface="Arial"/>
              <a:buChar char="▸"/>
            </a:pPr>
            <a:r>
              <a:t>Bilingual, free, and ad-free</a:t>
            </a:r>
          </a:p>
          <a:p>
            <a:pPr>
              <a:spcAft>
                <a:spcPts val="2720"/>
              </a:spcAft>
              <a:defRPr sz="1700">
                <a:solidFill>
                  <a:srgbClr val="B0B0C0"/>
                </a:solidFill>
                <a:latin typeface="Segoe UI"/>
              </a:defRPr>
              <a:buFont typeface="Arial"/>
              <a:buChar char="▸"/>
            </a:pPr>
            <a:r>
              <a:t>Secure, scalable, and admin-managed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B8A6"/>
                </a:solidFill>
                <a:latin typeface="Segoe UI"/>
              </a:defRPr>
            </a:pPr>
            <a:r>
              <a:t>Built for students, by students.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707080"/>
                </a:solidFill>
                <a:latin typeface="Segoe UI"/>
              </a:defRPr>
            </a:pPr>
            <a:r>
              <a:t>Thank You  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